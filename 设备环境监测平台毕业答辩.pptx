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各位老师好，我是[你的姓名]，我的毕业设计项目是“设备环境监测平台”。今天我将从项目背景、系统架构、核心功能、关键技术和数据库设计五个方面，向各位老师汇报我的项目成果。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本次汇报将分为四个部分。首先，我会介绍项目的整体情况和系统架构；其次，将详细讲解各个核心功能模块的实现；接着，会阐述项目所使用的关键技术栈；最后，介绍数据库的设计思路。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首先，我们进入第一部分：项目概述与总体架构。在这一部分，我将介绍项目的背景、目标以及整体的系统架构设计。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本项目定位为一个物联网环境监测平台，旨在实现从数据采集、云端汇聚、本地处理到前端展示的全链路闭环。核心目标是整合设备数据，通过可视化界面进行监测与控制，并实现设备管理、告警等核心功能。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了经典的四层架构。最底层是设备接入层，通过传感器采集数据；第二层是云平台层，使用中国移动OneNET进行设备管理和数据存储；第三层是业务服务层，由Python服务处理核心业务逻辑；最上层是前端展示层，通过Web页面进行数据可视化和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架构的核心亮点在于，前端不直接与云平台交互，而是通过本地Python服务作为代理。这样做的好处是显而易见的：首先，它极大地提升了系统安全性，避免了敏感密钥在前端暴露；其次，所有复杂的业务逻辑都集中在后端，便于维护和扩展；最后，这使得整个系统成为一个完整的动态Web应用，而非简单的静态页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接下来，我们进入第二部分，详细介绍系统的各个核心功能模块。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系统的入口是登录页面。它实现了前后端分离的会话控制，用户登录状态由后端通过Cookie管理，确保了系统的安全性。所有需要权限的页面和接口都受到保护，未登录用户无法访问。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系统主页面是一个数据可视化大屏。它采用了大屏风格布局，通过前端定时轮询后端API来获取数据，并使用ECharts进行图表渲染。这种“后端聚合、前端渲染”的模式，保证了系统的完整性和可扩展性。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备管理模块的核心价值在于实现了数据持久化。用户可以新增和删除设备，所有设备信息，包括关键的OneNET接入参数，都被存储在MySQL数据库中。这确保了设备档案的长期保存，即使在服务重启后数据也不会丢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时监测功能展示了数据流转的关键链路。前端请求后端，后端根据设备ID查询数据库中的接入参数，进行HMAC-SHA1鉴权后，代理请求OneNET平台获取实时数据，最后将处理后的数据返回给前端。这种后端代理模式，是保证系统安全和数据一致性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统计分析模块负责提炼数据价值。首页展示的核心指标，如设备总数、在线数等，都是后端通过对MySQL业务表进行聚合查询得到的。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趋势图则依赖于后端定时汇总并保存的历史数据，再由前端使用ECharts进行可视化展示，帮助管理者直观地了解设备运行状况和使用情况。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告警中心是业务逻辑的集中体现。告警规则、状态和日志都存储在数据库中，判断逻辑完全在后端完成。后端定时任务会自动检查设备状态，一旦触发告警规则，就会生成告警日志并通知用户。这种设计保证了告警逻辑的集中管理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第三部分，我将详细介绍本项目所使用的关键技术栈。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技术栈涵盖了前后端、云平台和数据库。前端采用原生Web技术结合ECharts，在保证功能的同时兼顾了开发效率；后端使用Python原生模块构建HTTP服务，代码逻辑清晰易懂；与OneNET平台对接的核心是严格的HMAC-SHA1鉴权，以确保通信安全；最后，使用成熟稳定的MySQL数据库实现数据的持久化存储和分析。这套技术组合既保证了系统的稳定性，也便于在答辩时清晰地阐述各个模块的原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最后，我们来看第四部分：数据库设计。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遵循分层管理的思想。主要包含六张核心表：设备主表用于存储设备档案；状态表和历史表用于支持统计分析；告警相关的三张表（配置、状态、日志）则共同实现了完整的告警管理功能。这种设计使得数据结构清晰，易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我的汇报到此结束。感谢各位老师的聆听，恳请各位老师批评指正。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12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3.jpe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38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9.jpeg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jpeg"/><Relationship Id="rId4" Type="http://schemas.openxmlformats.org/officeDocument/2006/relationships/image" Target="../media/image10.jpeg"/><Relationship Id="rId3" Type="http://schemas.openxmlformats.org/officeDocument/2006/relationships/image" Target="../media/image11.jpeg"/><Relationship Id="rId2" Type="http://schemas.openxmlformats.org/officeDocument/2006/relationships/image" Target="../media/image57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0.jpe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设备环境监测平台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毕业设计答辩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5270500"/>
            <a:ext cx="127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  <a:p>
            <a:pPr indent="0" algn="ctr">
              <a:lnSpc>
                <a:spcPct val="125000"/>
              </a:lnSpc>
            </a:pPr>
            <a:endParaRPr 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747000" y="5270500"/>
            <a:ext cx="127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001000" y="52705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222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项目概述与总体架构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项目背景与建设目标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系统总体技术架构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架构设计核心亮点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2286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2222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核心功能模块详解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基础：登录认证 / 系统主界面 / 设备管理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核心：数据实时监测 / 多维统计分析 / 智能告警中心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635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关键技术栈详解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前端交互框架与组件库选型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后端微服务架构设计与实现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OneNET 物联网平台与 MySQL 数据库整合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31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4699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47000" y="4635500"/>
            <a:ext cx="342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核心业务数据表结构与关系映射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数据库设计原则与规范化思想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针对海量时序数据的存储优化策略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9FAF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项目概述与总体架构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08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 AND ARCHITECTURE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1206500"/>
          </a:xfrm>
          <a:prstGeom prst="roundRect">
            <a:avLst>
              <a:gd name="adj" fmla="val 100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1841500"/>
            <a:ext cx="990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POSITIONING · 项目定位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面向物联网场景的综合性监测与控制系统，作为毕业设计项目，旨在打造从“设备端数据采集-云端汇聚-本地服务处理-前端可视化展示”的全链路物联网应用闭环。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454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数据采集与整合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将现场物联网设备采集的环境数据（温度、湿度、烟雾浓度）和设备状态，通过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中国移动OneNET云平台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进行统一汇聚与管理，打破数据孤岛。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429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3454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数据处理与展示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构建本地Python服务，实现对云端数据的定时拉取、清洗、业务逻辑聚合；并开发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可视化大屏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与控制页面，将枯燥的数字转化为直观的图表与状态，提升可读性。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342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3454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核心功能闭环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打通“感知-传输-计算-应用”全流程，提供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设备管理、实时监测、多维度统计分析、智能阈值告警、远程设备控制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等核心功能，打造完整可用的物联网应用。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4545" r="4545"/>
          <a:stretch>
            <a:fillRect/>
          </a:stretch>
        </p:blipFill>
        <p:spPr>
          <a:xfrm>
            <a:off x="1016000" y="2133600"/>
            <a:ext cx="1270000" cy="1397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413000" y="1841500"/>
            <a:ext cx="3302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01. 设备接入层 (Perception Layer)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负责物理世界的各类环境数据采集与控制信号输出。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部署温湿度、烟雾等多类型传感器，以及各类控制单元。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16883" r="16883"/>
          <a:stretch>
            <a:fillRect/>
          </a:stretch>
        </p:blipFill>
        <p:spPr>
          <a:xfrm>
            <a:off x="6477000" y="2133600"/>
            <a:ext cx="1270000" cy="1397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874000" y="1841500"/>
            <a:ext cx="3302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02. 云平台层 (Network &amp; Cloud Layer)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作为系统的中枢，负责海量设备的连接管理、数据可靠存储及指令转发。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采用中国移动OneNET物联网平台提供底层能力支持。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2545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4545" r="4545"/>
          <a:stretch>
            <a:fillRect/>
          </a:stretch>
        </p:blipFill>
        <p:spPr>
          <a:xfrm>
            <a:off x="1016000" y="4737100"/>
            <a:ext cx="1270000" cy="1397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413000" y="4445000"/>
            <a:ext cx="3302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03. 业务服务层 (Application Service Layer)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系统的核心“大脑”，负责处理复杂业务逻辑与规则判断。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基于Python开发本地服务，完成鉴权、API封装、数据聚合及自动告警逻辑。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2545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l="34659" r="34659"/>
          <a:stretch>
            <a:fillRect/>
          </a:stretch>
        </p:blipFill>
        <p:spPr>
          <a:xfrm>
            <a:off x="6477000" y="4737100"/>
            <a:ext cx="1270000" cy="1397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874000" y="4445000"/>
            <a:ext cx="33020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04. 前端展示层 (Presentation Layer)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面向最终用户，将处理后的结构化数据转化为直观的可视化界面。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利用HTML/CSS、JS、ECharts等技术，打造响应式的Web端管理后台。</a:t>
            </a:r>
            <a:endParaRPr lang="en-US" sz="12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965200"/>
          </a:xfrm>
          <a:prstGeom prst="roundRect">
            <a:avLst>
              <a:gd name="adj" fmla="val 15789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54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核心特点：前端不直接访问 OneNET，而是统一通过本地服务进行代理访问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3766" r="3766"/>
          <a:stretch>
            <a:fillRect/>
          </a:stretch>
        </p:blipFill>
        <p:spPr>
          <a:xfrm>
            <a:off x="762000" y="3048000"/>
            <a:ext cx="4826000" cy="3175000"/>
          </a:xfrm>
          <a:prstGeom prst="roundRect">
            <a:avLst>
              <a:gd name="adj" fmla="val 48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5969000" y="3048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500" y="32639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21500" y="3149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安全性显著提升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将敏感的 AccessKey 和复杂鉴权逻辑保留在后端，彻底规避前端暴露风险。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969000" y="42545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500" y="44704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43561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业务逻辑高度集中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设备管理、告警分析等复杂逻辑统一由后端处理，大幅降低维护成本与扩展难度。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69000" y="5461000"/>
            <a:ext cx="5461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56769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5562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系统架构更具完整性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从静态页面进阶为具备完整前后端交互与安全控制的动态 Web 应用，体现设计深度。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CORE FUNCTIONAL MODULES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登录页面：系统安全入口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470" b="1470"/>
          <a:stretch>
            <a:fillRect/>
          </a:stretch>
        </p:blipFill>
        <p:spPr>
          <a:xfrm>
            <a:off x="762000" y="1905000"/>
            <a:ext cx="4318000" cy="4191000"/>
          </a:xfrm>
          <a:prstGeom prst="roundRect">
            <a:avLst>
              <a:gd name="adj" fmla="val 4848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588000" y="1905000"/>
            <a:ext cx="584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273800" y="2057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2667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用户输入信息后，通过 AJAX POST 请求将数据加密传输至后端</a:t>
            </a:r>
            <a:r>
              <a:rPr lang="en-US" sz="13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/api/login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后端校验：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服务端进行身份核验，成功则下发会话 Cookie；失败则返回 HTTP 401 未授权错误。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跳转逻辑：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验证通过后，前端自动重定向至系统核心功能的主页面。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588000" y="4318000"/>
            <a:ext cx="584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450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73800" y="447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核心答辩要点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5080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会话管理机制：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Cookie 实现前后端分离架构下的状态保持，形成闭环的访问控制链路。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全域安全防护：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建立统一的鉴权拦截器，对所有敏感页面和 API 实施强制登录校验，防止未授权访问。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数据可视化大屏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1781" b="21781"/>
          <a:stretch>
            <a:fillRect/>
          </a:stretch>
        </p:blipFill>
        <p:spPr>
          <a:xfrm>
            <a:off x="762000" y="1524000"/>
            <a:ext cx="10668000" cy="2032000"/>
          </a:xfrm>
          <a:prstGeom prst="rect">
            <a:avLst/>
          </a:prstGeom>
          <a:noFill/>
          <a:ln w="25400" cap="flat" cmpd="sng">
            <a:solidFill>
              <a:srgbClr val="14B8A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393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91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4165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页面布局：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采用模块化大屏风格，整合头部导航、核心监测、趋势分析、告警中心等功能模块。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数据交互：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页面加载后，前端发起并行AJAX请求，异步获取后端聚合的多维数据。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● 协同模式：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典型的前后端分离架构，后端负责复杂数据的清洗与聚合，前端专注于高性能渲染。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93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191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4165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482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前端可视化与交互：</a:t>
            </a:r>
            <a:endParaRPr lang="en-US" sz="1100"/>
          </a:p>
          <a:p>
            <a:pPr indent="19050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jQuery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处理异步网络请求(AJAX)与页面元素操作(DOM)；引入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ECharts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绘制地图、折线图、饼图等多种图表，确保数据直观展示。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后端数据服务：</a:t>
            </a:r>
            <a:endParaRPr lang="en-US" sz="1300" b="1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19050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Python 的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ThreadingHTTPServer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搭建轻量级服务器，利用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requests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库对接底层数据源，完成数据的高效聚合与分发。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设备管理：数据持久化的核心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828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108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提供直观的设备生命周期管理入口，支持核心的设备台账维护操作：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新增设备：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支持用户录入设备基础信息与平台接入凭证，快速完成设备档案创建。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删除设备：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支持对废弃设备的移除操作，保持台账的整洁性与准确性。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0828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84800" y="2108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新增流程：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用户通过前端表单提交设备名称、OneNET平台接入参数等信息。后端接口接收到请求后，将数据结构化写入数据库的设备主表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`onenet_devices`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中，完成入库。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删除流程：</a:t>
            </a:r>
            <a:endParaRPr lang="en-US" sz="1400" b="1" i="0" u="none" strike="noStrike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基于前端选定的设备，后端获取其唯一标识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`record_id`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，执行物理删除操作，确保数据与前端展示的设备列表状态保持一致。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0828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67800" y="21082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2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实现了OneNET平台的接入凭证与系统内部设备台账的逻辑强绑定，解决了配置信息分散管理的问题。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利用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强大的持久化存储能力，确保所有设备数据在页面刷新、服务重启或异常宕机后不丢失，保障系统数据资产的完整性。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14473" b="14473"/>
          <a:stretch>
            <a:fillRect/>
          </a:stretch>
        </p:blipFill>
        <p:spPr>
          <a:xfrm>
            <a:off x="8572500" y="4699000"/>
            <a:ext cx="241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实时监测：数据流转的关键链路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06600"/>
            <a:ext cx="609600" cy="609600"/>
          </a:xfrm>
          <a:prstGeom prst="ellipse">
            <a:avLst/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1082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9304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前端触发请求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`/api/device-properties` 接口，携带目标设备的唯一标识 `record_id` 发起查询请求。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314700"/>
            <a:ext cx="609600" cy="609600"/>
          </a:xfrm>
          <a:prstGeom prst="ellipse">
            <a:avLst/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4163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32004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后端代理鉴权查询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检索设备OneNET接入参数 2. 使用 HMAC-SHA1 算法生成鉴权头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代理调用OneNET `query-device-property` 获取实时数据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35500"/>
            <a:ext cx="24765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889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762500"/>
            <a:ext cx="158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解析与转换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将OneNET返回的原始数据，清洗并映射为业务系统可直接使用的字段。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4635500"/>
            <a:ext cx="24765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4889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254500" y="4762500"/>
            <a:ext cx="158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前端渲染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更新前端设备详情卡片，实现毫秒级的实时状态展示。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 t="21287" b="21287"/>
          <a:stretch>
            <a:fillRect/>
          </a:stretch>
        </p:blipFill>
        <p:spPr>
          <a:xfrm>
            <a:off x="6223000" y="1778000"/>
            <a:ext cx="5207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6223000" y="44450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699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6355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后端代理的必要性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有效保护 OneNET `AccessKey` 等敏感鉴权信息，防止前端泄露。同时便于在后端统一进行数据格式整理、异常处理和业务逻辑封装，提升系统扩展性。</a:t>
            </a:r>
            <a:endParaRPr lang="en-US" sz="12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统计分析：数据价值的提炼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设备总数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7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聚合查询：</a:t>
            </a:r>
            <a:r>
              <a:rPr lang="en-US" sz="11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COUNT(*) FROM onenet_devices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30600" y="1651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184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92600" y="1803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本月新增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21100" y="247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条件过滤：</a:t>
            </a:r>
            <a:r>
              <a:rPr lang="en-US" sz="11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WHERE created_at IN current_month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99200" y="1651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9700" y="184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61200" y="1803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当前在线数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9700" y="247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状态监控：</a:t>
            </a:r>
            <a:r>
              <a:rPr lang="en-US" sz="11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FROM device_status WHERE status='online'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67800" y="1651000"/>
            <a:ext cx="26035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58300" y="1841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29800" y="18034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近五日报错数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58300" y="247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日志统计：</a:t>
            </a:r>
            <a:r>
              <a:rPr lang="en-US" sz="11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FROM alarm_logs WHERE alarm_time IN last 5 days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41275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📈 最近五天在线趋势统计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08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后端定时任务每日汇总设备状态，将结果写入 `status_history` 表，前端调用聚合API接口，通过柱状图直观展示每日设备在线的变化趋势。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3937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rcRect l="12499" r="12500"/>
          <a:stretch>
            <a:fillRect/>
          </a:stretch>
        </p:blipFill>
        <p:spPr>
          <a:xfrm>
            <a:off x="9906000" y="4318000"/>
            <a:ext cx="1270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6477000" y="4191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设备使用频率分析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953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基于设备启动成功次数，利用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ECharts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绘制横向条形图，快速识别高频使用设备与闲置设备，辅助资源优化决策。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告警中心：业务逻辑的集中体现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375" r="9375"/>
          <a:stretch>
            <a:fillRect/>
          </a:stretch>
        </p:blipFill>
        <p:spPr>
          <a:xfrm>
            <a:off x="762000" y="2032000"/>
            <a:ext cx="3302000" cy="4064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572000" y="1905000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572000" y="2095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133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88000" y="20574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告警逻辑完全在后端实现，包括规则匹配、状态维护和日志沉淀，确保了逻辑的一致性与安全性。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572000" y="3556000"/>
            <a:ext cx="685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37465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53000" y="387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3683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数据库表设计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alarm_config: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存储告警规则与阈值配置 |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alarm_state: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记录设备当前状态，实现告警去重 |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alarm_logs: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全量历史告警事件记录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5207000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5397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00" y="5524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53594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告警判断流程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后端定时任务自动遍历设备，实时拉取监测数据，与预设阈值进行比对，结合当前状态综合判断，最终决定是否生成并写入新的告警日志。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关键技术栈详解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KEY TECHNOLOGY STACK OVERVIEW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3769" r="33769"/>
          <a:stretch>
            <a:fillRect/>
          </a:stretch>
        </p:blipFill>
        <p:spPr>
          <a:xfrm>
            <a:off x="1016000" y="2184400"/>
            <a:ext cx="1270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413000" y="2032000"/>
            <a:ext cx="330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前端技术栈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HTML, CSS, JavaScript, jQuery, ECharts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实现简单、部署轻量、调试方便，能快速构建交互界面。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8333" r="8333"/>
          <a:stretch>
            <a:fillRect/>
          </a:stretch>
        </p:blipFill>
        <p:spPr>
          <a:xfrm>
            <a:off x="6477000" y="2184400"/>
            <a:ext cx="1270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874000" y="2032000"/>
            <a:ext cx="330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后端服务技术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Python 原生模块 `BaseHTTPRequestHandler` 和 `ThreadingHTTPServer`。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理由：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代码结构直观，无框架依赖，便于讲解接口处理流程。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19642" r="19642"/>
          <a:stretch>
            <a:fillRect/>
          </a:stretch>
        </p:blipFill>
        <p:spPr>
          <a:xfrm>
            <a:off x="1016000" y="4724400"/>
            <a:ext cx="1270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413000" y="4572000"/>
            <a:ext cx="330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OneNET 接入技术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HMAC-SHA1 算法进行接口鉴权。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动态生成合法的 `Authorization` 请求头，确保与平台API交互的安全性。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318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l="22222" r="22222"/>
          <a:stretch>
            <a:fillRect/>
          </a:stretch>
        </p:blipFill>
        <p:spPr>
          <a:xfrm>
            <a:off x="6477000" y="4724400"/>
            <a:ext cx="1270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874000" y="4572000"/>
            <a:ext cx="3302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MySQL 数据库技术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负责存储系统配置主数据与物联网设备上报的全量业务过程数据。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意义：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实现数据持久化存储，支持业务统计分析，满足告警数据追溯需求。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 DESIGN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数据库表结构设计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79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542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设计思想：分层管理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将主数据、实时状态、历史统计和告警日志分层管理，避免数据混杂，提高查询效率和系统可扩展性。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3454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设备主表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onenet_devices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存储设备基础信息和OneNET接入参数，是系统核心主档表。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603500" y="3302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730500" y="3454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device_status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实时存储设备当前的在线、离线等运行状态信息。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3302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3454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状态历史表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status_history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按日期维度统计和存储设备的在线数量、离线时长等历史数据。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89000" y="5232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告警配置表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alarm_config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配置各类告警的触发规则、阈值和通知方式。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603500" y="5080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2730500" y="5232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告警状态表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alarm_state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记录设备当前的告警激活状态，主要用于告警去重处理。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445000" y="5080000"/>
            <a:ext cx="17145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72000" y="52324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告警日志表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alarm_logs</a:t>
            </a:r>
            <a:endParaRPr lang="en-US" sz="1100" b="0" i="0" u="none" strike="noStrike">
              <a:solidFill>
                <a:srgbClr val="14B8A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0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完整记录所有告警的触发、恢复事件，支持审计查询。</a:t>
            </a:r>
            <a:endParaRPr lang="en-US" sz="1100" b="0" i="0" u="none" strike="noStrike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rcRect l="215" r="215"/>
          <a:stretch>
            <a:fillRect/>
          </a:stretch>
        </p:blipFill>
        <p:spPr>
          <a:xfrm>
            <a:off x="6477000" y="2159000"/>
            <a:ext cx="5080000" cy="3810000"/>
          </a:xfrm>
          <a:prstGeom prst="rect">
            <a:avLst/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477000" y="609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数据库表结构设计示意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敬请各位老师批评指正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3839</Words>
  <Application>WPS 演示</Application>
  <PresentationFormat/>
  <Paragraphs>259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UmePlus Gothic</vt:lpstr>
      <vt:lpstr>Roboto Mono</vt:lpstr>
      <vt:lpstr>微软雅黑</vt:lpstr>
      <vt:lpstr>Arial Unicode MS</vt:lpstr>
      <vt:lpstr>Noto Sans SC</vt:lpstr>
      <vt:lpstr>Roboto Mono</vt:lpstr>
      <vt:lpstr>Saturday Sans Regular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蕉字艘炭翘</cp:lastModifiedBy>
  <cp:revision>1</cp:revision>
  <dcterms:created xsi:type="dcterms:W3CDTF">2026-04-19T06:27:52Z</dcterms:created>
  <dcterms:modified xsi:type="dcterms:W3CDTF">2026-04-19T06:27:52Z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07B202E75BAF47D99C7A378684A2D414_12</vt:lpwstr>
  </property>
</Properties>
</file>